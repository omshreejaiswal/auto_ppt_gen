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89" r:id="rId5"/>
    <p:sldId id="29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1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A2"/>
    <a:srgbClr val="40404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94"/>
  </p:normalViewPr>
  <p:slideViewPr>
    <p:cSldViewPr snapToGrid="0">
      <p:cViewPr varScale="1">
        <p:scale>
          <a:sx n="120" d="100"/>
          <a:sy n="120" d="100"/>
        </p:scale>
        <p:origin x="200" y="2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13" Type="http://schemas.openxmlformats.org/officeDocument/2006/relationships/slide" Target="slides/slide2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3D6640C-F6A0-4351-856B-14836F234E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0B7B-2795-4857-B84E-9C600536AE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20AE1-5DBC-4417-A73B-5F29B67C532C}" type="datetimeFigureOut">
              <a:rPr lang="en-US" smtClean="0"/>
              <a:t>2/6/26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3ACD6-6E00-4BE1-A684-34A6BD202E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F20A5-CEF2-4B11-A0A4-0F4BC0BD64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22411-A9A9-4A09-A341-69C657AB42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8888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6A9CD-5E57-4C86-B862-09CA519924BA}" type="datetimeFigureOut">
              <a:rPr lang="en-US" smtClean="0"/>
              <a:t>2/6/26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A004F4-F240-48F9-8AE1-486585C7F0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881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1704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D165-49B0-44FF-A267-367F5A6EE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9514"/>
            <a:ext cx="9144000" cy="2128049"/>
          </a:xfrm>
        </p:spPr>
        <p:txBody>
          <a:bodyPr anchor="b"/>
          <a:lstStyle>
            <a:lvl1pPr algn="ctr">
              <a:lnSpc>
                <a:spcPct val="12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52800-74D6-4A78-AC9B-8E737A1A3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1162"/>
            <a:ext cx="9144000" cy="882001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1" kern="1200" spc="65" dirty="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91F7B-C4AF-4FC6-A6BE-657DEF6D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08ED5-AEFE-4443-9040-726EF6690995}" type="datetime1">
              <a:rPr lang="en-US" smtClean="0"/>
              <a:t>2/6/26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D32F8-B0C7-4332-B0A5-BC19DD8C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30946-D0C7-4F78-94B0-427DAA6D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50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1141-A77D-4E0E-8CAF-4CD3B279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EFDE0-5A54-402A-B0C3-6BC0BB739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825AD-4585-4E37-A076-3D0070C9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2561F-7E45-400C-8758-912CDFE9410A}" type="datetime1">
              <a:rPr lang="en-US" smtClean="0"/>
              <a:t>2/6/26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064AD-EDC3-4B13-8CD6-49EB6009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0FD1E-16F6-49B1-A938-8CE601ED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46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A988-92AD-48D7-890A-AA0540961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999FA-A189-41DB-9CFC-D1356C534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D83DC-20E7-4B71-9794-36FC33B1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4BC7-4CDB-41D7-81AF-9CE8473FF4B8}" type="datetime1">
              <a:rPr lang="en-US" smtClean="0"/>
              <a:t>2/6/26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7D103-1290-4592-B37C-19C9C9DB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55B1B-4A5C-42C7-99A5-B8217736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0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87105-2538-4216-9A7E-445FA092F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smtClean="0"/>
              <a:t>2/6/26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03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CD8C-7FEF-4E71-8EB9-D3BA6E2E3E9E}" type="datetime1">
              <a:rPr lang="en-US" smtClean="0"/>
              <a:t>2/6/26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76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9EF5-3FD9-4423-A9E8-B67B4E90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D7191-31B4-440E-A4E9-F412FA55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379E-9B58-41EA-B928-5B1C8436A60E}" type="datetime1">
              <a:rPr lang="en-US" smtClean="0"/>
              <a:t>2/6/26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85CB6-0880-4BF0-8E98-291E70C7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A5E74-F26F-4C7A-BED1-6EE66C0B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90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5C546-684A-45B9-8890-66DC55DF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0A371-51FE-4D99-BD87-6A650FCE519D}" type="datetime1">
              <a:rPr lang="en-US" smtClean="0"/>
              <a:t>2/6/26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43EBDF-D696-42F7-B962-56F5FEE12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9D77E-1675-4F9D-9113-B274CB0E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460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9C90-06AB-49B5-9970-F5791DE9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B0071-932D-4CA0-92FB-A6E75AC8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8D9F5-8B70-4BDD-9CB5-BBF87CF55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9DE91-7A80-4682-9D32-2CD41DEF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F8CFF-A1C0-4B6C-AA8D-BE72CB14468D}" type="datetime1">
              <a:rPr lang="en-US" smtClean="0"/>
              <a:t>2/6/26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E2482-2E7D-4868-95A7-4A55B40F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E84CF-C3E5-4475-84C7-21CBAC06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62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smtClean="0"/>
              <a:t>2/6/26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443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Horisont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E4FD2CFF-0F3D-42BB-BBFF-903727B32640}"/>
              </a:ext>
            </a:extLst>
          </p:cNvPr>
          <p:cNvSpPr/>
          <p:nvPr userDrawn="1"/>
        </p:nvSpPr>
        <p:spPr>
          <a:xfrm>
            <a:off x="0" y="1562188"/>
            <a:ext cx="11269980" cy="2359660"/>
          </a:xfrm>
          <a:custGeom>
            <a:avLst/>
            <a:gdLst/>
            <a:ahLst/>
            <a:cxnLst/>
            <a:rect l="l" t="t" r="r" b="b"/>
            <a:pathLst>
              <a:path w="11269980" h="2359660">
                <a:moveTo>
                  <a:pt x="0" y="2359152"/>
                </a:moveTo>
                <a:lnTo>
                  <a:pt x="11269980" y="2359152"/>
                </a:lnTo>
                <a:lnTo>
                  <a:pt x="11269980" y="0"/>
                </a:lnTo>
                <a:lnTo>
                  <a:pt x="0" y="0"/>
                </a:lnTo>
                <a:lnTo>
                  <a:pt x="0" y="2359152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133087"/>
            <a:ext cx="10431780" cy="20438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smtClean="0"/>
              <a:t>2/6/26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1B0D46C-2987-401A-A0C4-CFB6F73E9D2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44296" y="1788579"/>
            <a:ext cx="10425684" cy="19068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97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8AB8B54-69CD-4C57-8DBB-02A0E09851DD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17362"/>
            <a:ext cx="3932237" cy="1302111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2419" y="1887801"/>
            <a:ext cx="4057961" cy="143123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smtClean="0"/>
              <a:t>2/6/26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2EB2F967-97B6-4CA8-B3E7-5FF7CA2BDD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4273" y="1883115"/>
            <a:ext cx="576000" cy="576000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5E78E133-FE09-456A-8463-9EFAC6ADE26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4273" y="3573118"/>
            <a:ext cx="576000" cy="576000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F0C3496-EA4B-43E5-9704-968F80A8552C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1552418" y="3575461"/>
            <a:ext cx="4057961" cy="143123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13414E14-9FEB-40F8-AE6E-319637A8F1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44273" y="5263121"/>
            <a:ext cx="576000" cy="576000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EC97C88-8B4C-4665-845B-95CE8F237779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1552418" y="5263122"/>
            <a:ext cx="4057961" cy="77572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8061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B74348DE-EC54-4C62-948C-0B2BF90455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115389"/>
            <a:ext cx="12188825" cy="3742611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2A53E879-94A1-4659-9069-ED0D6F03014D}"/>
              </a:ext>
            </a:extLst>
          </p:cNvPr>
          <p:cNvSpPr/>
          <p:nvPr userDrawn="1"/>
        </p:nvSpPr>
        <p:spPr>
          <a:xfrm>
            <a:off x="2400" y="1999821"/>
            <a:ext cx="12189600" cy="1115568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859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434047"/>
            <a:ext cx="5157787" cy="2755616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859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434047"/>
            <a:ext cx="5183188" cy="27556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CD8C-7FEF-4E71-8EB9-D3BA6E2E3E9E}" type="datetime1">
              <a:rPr lang="en-US" smtClean="0"/>
              <a:t>2/6/26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576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smtClean="0"/>
              <a:t>2/6/26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15EEB49-54F4-404C-9B31-AD488BFCB2E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2412" y="2219248"/>
            <a:ext cx="2414016" cy="2414016"/>
          </a:xfrm>
          <a:prstGeom prst="ellipse">
            <a:avLst/>
          </a:prstGeom>
          <a:noFill/>
          <a:ln w="387350"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6B2DD458-866A-421E-9AD0-B0D9E119572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05572" y="2196083"/>
            <a:ext cx="2414016" cy="2414016"/>
          </a:xfrm>
          <a:prstGeom prst="ellipse">
            <a:avLst/>
          </a:prstGeom>
          <a:noFill/>
          <a:ln w="387350"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57A4D097-9603-42DC-888D-8039CE6ADC9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87240" y="2019165"/>
            <a:ext cx="3017520" cy="3017520"/>
          </a:xfrm>
          <a:prstGeom prst="ellipse">
            <a:avLst/>
          </a:prstGeom>
          <a:noFill/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B9B9E0BA-35AD-4D69-9A03-35F2509C2C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12900" y="5033963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B1CC61B3-695C-423D-8F0B-45674DC932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45831" y="5236700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B870F23E-35A1-4942-A685-641AA88306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78762" y="5033963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863B8202-88BB-4ED4-B936-9D9C0B4C8D1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280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Three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29F16048-FF4E-41B1-B3D4-0FB210A70DF2}"/>
              </a:ext>
            </a:extLst>
          </p:cNvPr>
          <p:cNvSpPr/>
          <p:nvPr userDrawn="1"/>
        </p:nvSpPr>
        <p:spPr>
          <a:xfrm>
            <a:off x="5294630" y="0"/>
            <a:ext cx="6897370" cy="6858000"/>
          </a:xfrm>
          <a:custGeom>
            <a:avLst/>
            <a:gdLst/>
            <a:ahLst/>
            <a:cxnLst/>
            <a:rect l="l" t="t" r="r" b="b"/>
            <a:pathLst>
              <a:path w="6897370" h="6858000">
                <a:moveTo>
                  <a:pt x="0" y="6858000"/>
                </a:moveTo>
                <a:lnTo>
                  <a:pt x="6896900" y="6858000"/>
                </a:lnTo>
                <a:lnTo>
                  <a:pt x="68969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8AB8B54-69CD-4C57-8DBB-02A0E09851DD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17362"/>
            <a:ext cx="3932237" cy="130211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94251" y="1192697"/>
            <a:ext cx="4057961" cy="143123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smtClean="0"/>
              <a:t>2/6/26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337951D-6DB6-4713-9200-E8513CDEB6B3}"/>
              </a:ext>
            </a:extLst>
          </p:cNvPr>
          <p:cNvSpPr/>
          <p:nvPr userDrawn="1"/>
        </p:nvSpPr>
        <p:spPr>
          <a:xfrm>
            <a:off x="0" y="2430411"/>
            <a:ext cx="3625850" cy="3438525"/>
          </a:xfrm>
          <a:custGeom>
            <a:avLst/>
            <a:gdLst/>
            <a:ahLst/>
            <a:cxnLst/>
            <a:rect l="l" t="t" r="r" b="b"/>
            <a:pathLst>
              <a:path w="3625850" h="3438525">
                <a:moveTo>
                  <a:pt x="0" y="3438486"/>
                </a:moveTo>
                <a:lnTo>
                  <a:pt x="3625596" y="3438486"/>
                </a:lnTo>
                <a:lnTo>
                  <a:pt x="3625596" y="0"/>
                </a:lnTo>
                <a:lnTo>
                  <a:pt x="0" y="0"/>
                </a:lnTo>
                <a:lnTo>
                  <a:pt x="0" y="343848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781223"/>
            <a:ext cx="6040800" cy="273690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2EB2F967-97B6-4CA8-B3E7-5FF7CA2BDD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6106" y="1188012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5E78E133-FE09-456A-8463-9EFAC6ADE26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86106" y="2878015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F0C3496-EA4B-43E5-9704-968F80A8552C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7294250" y="2880357"/>
            <a:ext cx="4057961" cy="143123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13414E14-9FEB-40F8-AE6E-319637A8F1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86106" y="4568018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EC97C88-8B4C-4665-845B-95CE8F237779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7294250" y="4568018"/>
            <a:ext cx="4057961" cy="143123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4904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EC732-0DE2-456B-92A1-84321C9B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16A5B-B156-4DC3-B18E-14F3E59A6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0252E-67CD-4B33-849F-7B1449CF2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591E0-5367-4F2F-9C30-2087D79A846D}" type="datetime1">
              <a:rPr lang="en-US" noProof="0" smtClean="0"/>
              <a:t>2/6/26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20AD2-E3F8-48CB-8B72-B0945DF53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5F3BCF-F6FD-4DFF-B0B4-9892C9389344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DEFFD-817B-43EC-86F0-34DEA2BA5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1">
                <a:solidFill>
                  <a:schemeClr val="tx2">
                    <a:alpha val="70000"/>
                  </a:schemeClr>
                </a:solidFill>
              </a:defRPr>
            </a:lvl1pPr>
          </a:lstStyle>
          <a:p>
            <a:fld id="{82EE24B5-652C-4DB5-B7C3-B5BBEC1280B1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410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 descr="Blue rectangle">
            <a:extLst>
              <a:ext uri="{FF2B5EF4-FFF2-40B4-BE49-F238E27FC236}">
                <a16:creationId xmlns:a16="http://schemas.microsoft.com/office/drawing/2014/main" id="{482BBC39-5D4C-4E24-ADB1-5FFFBA7198D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blipFill>
            <a:blip r:embed="rId3"/>
            <a:srcRect/>
            <a:stretch>
              <a:fillRect l="-12" r="-12"/>
            </a:stretch>
          </a:blip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" name="object 3" descr="People with documents">
            <a:extLst>
              <a:ext uri="{FF2B5EF4-FFF2-40B4-BE49-F238E27FC236}">
                <a16:creationId xmlns:a16="http://schemas.microsoft.com/office/drawing/2014/main" id="{0CA2E80D-F3EC-4A5F-8E65-56FEA206EE0F}"/>
              </a:ext>
            </a:extLst>
          </p:cNvPr>
          <p:cNvSpPr/>
          <p:nvPr/>
        </p:nvSpPr>
        <p:spPr>
          <a:xfrm>
            <a:off x="127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6C91D-4B22-49F1-9A0B-ABEB9E1F5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08518"/>
            <a:ext cx="9144000" cy="2128049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5000" dirty="0">
                <a:solidFill>
                  <a:schemeClr val="bg1"/>
                </a:solidFill>
                <a:latin typeface="Gill Sans MT" panose="020B0502020104020203" pitchFamily="34" charset="0"/>
              </a:rPr>
              <a:t>GENERAL SERVICES</a:t>
            </a:r>
            <a:br>
              <a:rPr lang="en-US" sz="5000" dirty="0">
                <a:solidFill>
                  <a:schemeClr val="bg1"/>
                </a:solidFill>
                <a:latin typeface="Gill Sans MT" panose="020B0502020104020203" pitchFamily="34" charset="0"/>
              </a:rPr>
            </a:br>
            <a:r>
              <a:rPr lang="en-US" sz="5000" dirty="0">
                <a:latin typeface="Gill Sans MT" panose="020B0502020104020203" pitchFamily="34" charset="0"/>
              </a:rPr>
              <a:t>MARKETING PLAN</a:t>
            </a:r>
            <a:endParaRPr lang="en-US" sz="50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CF06A-B594-4BA2-8B1E-D649096D7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2000" y="4221162"/>
            <a:ext cx="3888000" cy="882001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/>
          </a:bodyPr>
          <a:lstStyle/>
          <a:p>
            <a:r>
              <a:rPr lang="en-US" sz="2500" b="1" i="1" spc="65" dirty="0">
                <a:solidFill>
                  <a:schemeClr val="accent1"/>
                </a:solidFill>
                <a:latin typeface="Arial"/>
                <a:cs typeface="Arial"/>
              </a:rPr>
              <a:t>Investor Opportunity</a:t>
            </a:r>
          </a:p>
        </p:txBody>
      </p:sp>
      <p:sp>
        <p:nvSpPr>
          <p:cNvPr id="6" name="object 7" descr="Beige rectangle">
            <a:extLst>
              <a:ext uri="{FF2B5EF4-FFF2-40B4-BE49-F238E27FC236}">
                <a16:creationId xmlns:a16="http://schemas.microsoft.com/office/drawing/2014/main" id="{B36975AA-C62E-46BE-9382-E2CF56FDF817}"/>
              </a:ext>
            </a:extLst>
          </p:cNvPr>
          <p:cNvSpPr/>
          <p:nvPr/>
        </p:nvSpPr>
        <p:spPr>
          <a:xfrm>
            <a:off x="3108000" y="3229869"/>
            <a:ext cx="5976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55601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r>
              <a:t>**Slide 1: Introduction**</a:t>
            </a:r>
          </a:p>
          <a:p>
            <a:r>
              <a:t>Our startup delivers smart facility management services for commercial buildings using IoT and AI technologies.</a:t>
            </a:r>
          </a:p>
          <a:p>
            <a:r>
              <a:t>Revolutionizing the way buildings are managed and operated.</a:t>
            </a:r>
          </a:p>
          <a:p>
            <a:r>
              <a:t>**Slide 2: Problem Statement**</a:t>
            </a:r>
          </a:p>
          <a:p>
            <a:r>
              <a:t>Inefficient energy usage and maintenance practices in commercial buildings</a:t>
            </a:r>
          </a:p>
          <a:p>
            <a:r>
              <a:t>High operational costs and wasted resources</a:t>
            </a:r>
          </a:p>
          <a:p>
            <a:r>
              <a:t>**Slide 3: Solution Overview**</a:t>
            </a:r>
          </a:p>
          <a:p>
            <a:r>
              <a:t>Optimizes energy usage through IoT and AI technologies</a:t>
            </a:r>
          </a:p>
          <a:p>
            <a:r>
              <a:t>Enables predictive maintenance and realtime monitoring</a:t>
            </a:r>
          </a:p>
          <a:p>
            <a:r>
              <a:t>**Slide 4: Benefits**</a:t>
            </a:r>
          </a:p>
          <a:p>
            <a:r>
              <a:t>Reduces operational costs</a:t>
            </a:r>
          </a:p>
          <a:p>
            <a:r>
              <a:t>Improves building efficiency and sustainability</a:t>
            </a:r>
          </a:p>
          <a:p>
            <a:r>
              <a:t>**Slide 5: Target Market**</a:t>
            </a:r>
          </a:p>
          <a:p>
            <a:r>
              <a:t>Corporate offices</a:t>
            </a:r>
          </a:p>
          <a:p>
            <a:r>
              <a:t>Hospitals</a:t>
            </a:r>
          </a:p>
          <a:p>
            <a:r>
              <a:t>Malls</a:t>
            </a:r>
          </a:p>
          <a:p>
            <a:r>
              <a:t>Industrial facilities</a:t>
            </a:r>
          </a:p>
          <a:p>
            <a:r>
              <a:t>**Slide 6: Market Opportunity**</a:t>
            </a:r>
          </a:p>
          <a:p>
            <a:r>
              <a:t>Growing demand for smart building solutions</a:t>
            </a:r>
          </a:p>
          <a:p>
            <a:r>
              <a:t>Large and expanding market with significant potential for growth</a:t>
            </a:r>
          </a:p>
          <a:p>
            <a:r>
              <a:t>**Slide 7: Business Model**</a:t>
            </a:r>
          </a:p>
          <a:p>
            <a:r>
              <a:t>Revenue generated through:</a:t>
            </a:r>
          </a:p>
          <a:p>
            <a:r>
              <a:t>Subscription plans</a:t>
            </a:r>
          </a:p>
          <a:p>
            <a:r>
              <a:t>Enterprise contracts</a:t>
            </a:r>
          </a:p>
          <a:p>
            <a:r>
              <a:t>**Slide 8: Scalability**</a:t>
            </a:r>
          </a:p>
          <a:p>
            <a:r>
              <a:t>Business designed for rapid expansion</a:t>
            </a:r>
          </a:p>
          <a:p>
            <a:r>
              <a:t>Scalable model for growth and increased revenue</a:t>
            </a:r>
          </a:p>
          <a:p>
            <a:r>
              <a:t>**Slide 9: Revenue Potential**</a:t>
            </a:r>
          </a:p>
          <a:p>
            <a:r>
              <a:t>Significant revenue potential through subscription and contract sales</a:t>
            </a:r>
          </a:p>
          <a:p>
            <a:r>
              <a:t>Strong potential for growth and returns on investment</a:t>
            </a:r>
          </a:p>
          <a:p>
            <a:r>
              <a:t>**Slide 10: Conclusion**</a:t>
            </a:r>
          </a:p>
          <a:p>
            <a:r>
              <a:t>Attractive investment opportunity in a growing market</a:t>
            </a:r>
          </a:p>
          <a:p>
            <a:r>
              <a:t>Potential for significant returns through scalable and efficient 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Custom 24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45022061_Professional services marketing plan_SL_V1" id="{B214D568-CC3C-4109-877A-D7A12976D35F}" vid="{D425069E-A49A-4A86-9A62-1864F0635A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2DDA16B-F3AC-4A5B-9F5F-6F5A8F47A9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426FE2C-7640-4BF0-9D68-FDFD4151FD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118CE8-9293-4220-BA3B-5D353B13ABC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741</Words>
  <Application>Microsoft Macintosh PowerPoint</Application>
  <PresentationFormat>Widescreen</PresentationFormat>
  <Paragraphs>241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</vt:lpstr>
      <vt:lpstr>Calibri</vt:lpstr>
      <vt:lpstr>Gill Sans MT</vt:lpstr>
      <vt:lpstr>Lato</vt:lpstr>
      <vt:lpstr>Office Theme</vt:lpstr>
      <vt:lpstr>GENERAL SERVICES MARKETING PLAN</vt:lpstr>
      <vt:lpstr>OUR BIG IDEA</vt:lpstr>
      <vt:lpstr>INDUSTRY OUTLOOK</vt:lpstr>
      <vt:lpstr>THE MARKET: Lorem ipsum dolor sit amet</vt:lpstr>
      <vt:lpstr>SERVICES WE OFFER</vt:lpstr>
      <vt:lpstr>OUR SPECIALIZED OFFERINGS</vt:lpstr>
      <vt:lpstr>BUSINESS MODEL</vt:lpstr>
      <vt:lpstr>SALES FORECAST</vt:lpstr>
      <vt:lpstr>KEY TIMELINE GOAL</vt:lpstr>
      <vt:lpstr>THE TEAM</vt:lpstr>
      <vt:lpstr>BUSINESS RATIOS</vt:lpstr>
      <vt:lpstr>MAJOR COMPETITORS</vt:lpstr>
      <vt:lpstr>REQUIRED FUNDING</vt:lpstr>
      <vt:lpstr>USE OF FUNDS: Fixed Startup Expenses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 SHREE JAISWAL</dc:creator>
  <cp:lastModifiedBy>OM SHREE JAISWAL</cp:lastModifiedBy>
  <cp:revision>1</cp:revision>
  <dcterms:created xsi:type="dcterms:W3CDTF">2026-02-06T08:02:05Z</dcterms:created>
  <dcterms:modified xsi:type="dcterms:W3CDTF">2026-02-06T08:04:22Z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